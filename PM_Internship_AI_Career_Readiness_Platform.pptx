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(SLIDE 1):</a:t>
            </a:r>
          </a:p>
          <a:p>
            <a:r>
              <a:t>- Welcome the committee. Introduce PM Internship Scheme 2.0 as a proactive career readiness platform.</a:t>
            </a:r>
          </a:p>
          <a:p>
            <a:r>
              <a:t>- Emphasize our core differentiator: Traditional portals only show listings and take applications, leaving students blind to why they get rejected.</a:t>
            </a:r>
          </a:p>
          <a:p>
            <a:r>
              <a:t>- Our platform bridges the critical preparation gap through AI resume intelligence, personalized roadmaps, and past hiring transparency.</a:t>
            </a:r>
          </a:p>
          <a:p>
            <a:r>
              <a:t>- Walk through the 6-stage concept flow: Profile -&gt; Resume Intelligence -&gt; Gap Diagnostics -&gt; Roadmap -&gt; Past Insights -&gt; Opportunity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(SLIDE 2):</a:t>
            </a:r>
          </a:p>
          <a:p>
            <a:r>
              <a:t>- Highlight the 5 core problems identified in student placement journeys.</a:t>
            </a:r>
          </a:p>
          <a:p>
            <a:r>
              <a:t>- Contrast legacy black-box job boards with our transparency-first model.</a:t>
            </a:r>
          </a:p>
          <a:p>
            <a:r>
              <a:t>- Explain the psychological barrier: Students in the 2026-30 cycle suffer from layoff panic; our 'Don't Fall in the Trap' module highlights active daily corporate hiring.</a:t>
            </a:r>
          </a:p>
          <a:p>
            <a:r>
              <a:t>- Conclude by showing that every single limitation is met with a dedicated, working software feature.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(SLIDE 3):</a:t>
            </a:r>
          </a:p>
          <a:p>
            <a:r>
              <a:t>- Direct attention to the right side visual mockup showing actual output from our integrated Student Dashboard.</a:t>
            </a:r>
          </a:p>
          <a:p>
            <a:r>
              <a:t>- Explain that our AI Resume Analyzer is not just a basic keyword matcher; it acts as a virtual corporate screener.</a:t>
            </a:r>
          </a:p>
          <a:p>
            <a:r>
              <a:t>- Emphasize point 5: We specifically identify RESUME CONTENT GAPS (missing GitHub links, lack of metrics) separate from SKILL GAPS.</a:t>
            </a:r>
          </a:p>
          <a:p>
            <a:r>
              <a:t>- Point 6 gives students a crystal clear 3-step action plan to reach 99% selection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(SLIDE 4):</a:t>
            </a:r>
          </a:p>
          <a:p>
            <a:r>
              <a:t>- Detail the dual proactive modules: Guidance (Find Your Path) + Opportunity Reality (Don't Fall in the Trap).</a:t>
            </a:r>
          </a:p>
          <a:p>
            <a:r>
              <a:t>- 'Find Your Path' ensures students never ask 'what should I study next?'—it creates a deadline-driven curriculum with curated free resources.</a:t>
            </a:r>
          </a:p>
          <a:p>
            <a:r>
              <a:t>- 'Don't Fall in the Trap' directly addresses the severe mental health and motivation crisis among 2026-30 batch students.</a:t>
            </a:r>
          </a:p>
          <a:p>
            <a:r>
              <a:t>- By highlighting corporate hiring announcements daily, students stay motivated and proactive.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(SLIDE 5):</a:t>
            </a:r>
          </a:p>
          <a:p>
            <a:r>
              <a:t>- Pillar 1: 'Learn From Past Selections' solves the opacity problem. Students can't copy other branches; they see exact winning profiles for their engineering or management branch.</a:t>
            </a:r>
          </a:p>
          <a:p>
            <a:r>
              <a:t>- Pillar 2: 'Find the Gap' transforms vague rejections into precise math—showing missing competencies and adding them to the roadmap.</a:t>
            </a:r>
          </a:p>
          <a:p>
            <a:r>
              <a:t>- Pillar 3: 'Disha AI' is our 24/7 intelligent guide. Grounded with Hybrid RAG (Qdrant + BM25), it answers scheme rules, eligibility, and openings accurately without hallucination.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(SLIDE 6):</a:t>
            </a:r>
          </a:p>
          <a:p>
            <a:r>
              <a:t>- Explain the robust 4-tier engineering stack: Frontend (React 19/Tailwind), API Gateway (FastAPI), AI Engine (NVIDIA NIM + Qdrant), Data Layer (SQL + Cloudinary).</a:t>
            </a:r>
          </a:p>
          <a:p>
            <a:r>
              <a:t>- Highlight Hybrid RAG: We don't just rely on vectors; we fuse BM25 keyword precision with vector semantics, eliminating hallucinations.</a:t>
            </a:r>
          </a:p>
          <a:p>
            <a:r>
              <a:t>- All resume parsing and roadmaps run asynchronously with strict JSON schema guardrails.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 (SLIDE 7):</a:t>
            </a:r>
          </a:p>
          <a:p>
            <a:r>
              <a:t>- Conclude the presentation by summarizing the transformative real-world impact across students, colleges, and recruiters.</a:t>
            </a:r>
          </a:p>
          <a:p>
            <a:r>
              <a:t>- Emphasize feasibility: Zero student cost, accessible on low-end devices, open-source first.</a:t>
            </a:r>
          </a:p>
          <a:p>
            <a:r>
              <a:t>- Outline the long-term vision: Evolving from a single scheme tool into a comprehensive, national career readiness standard.</a:t>
            </a:r>
          </a:p>
          <a:p>
            <a:r>
              <a:t>- Thank the judges and open the floor for Q&amp;A and live prototype demonstration.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731520" cy="7315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EA580C"/>
                </a:solidFill>
              </a:defRPr>
            </a:pPr>
            <a:r>
              <a:t>PM INTERNSHIP SCHEME 2.0</a:t>
            </a:r>
          </a:p>
          <a:p>
            <a:pPr>
              <a:defRPr sz="3000" b="1">
                <a:solidFill>
                  <a:srgbClr val="F1F5F9"/>
                </a:solidFill>
              </a:defRPr>
            </a:pPr>
            <a:r>
              <a:t>AI-Powered Career Readiness &amp; Intelligence Platform</a:t>
            </a:r>
          </a:p>
          <a:p>
            <a:pPr>
              <a:defRPr sz="1400">
                <a:solidFill>
                  <a:srgbClr val="94A3B8"/>
                </a:solidFill>
              </a:defRPr>
            </a:pPr>
            <a:r>
              <a:t>Moving Beyond Passive Job Applications to Proactive Student Preparation &amp; Corporate Readiness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651760"/>
            <a:ext cx="3328416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The Core Dilemma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Traditional placement platforms only show WHERE to apply. Students fail because they lack structured guidance on HOW to prepare.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07408" y="2651760"/>
            <a:ext cx="3328416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The Paradigm Shift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An integrated ecosystem connecting AI resume diagnostics, custom time-bound roadmaps, past selection insights, and live corporate news.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83296" y="2651760"/>
            <a:ext cx="3328416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Measured Outcome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Transforms student candidates into 95% ATS-compliant, pre-upskilled, interview-ready applicants matching top 500 corporate standards.</a:t>
            </a:r>
          </a:p>
        </p:txBody>
      </p:sp>
      <p:pic>
        <p:nvPicPr>
          <p:cNvPr id="8" name="Picture 7" descr="concept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4526280"/>
            <a:ext cx="10725912" cy="227092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STRATEGIC PROBLEM-SOLUTION FIT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Problem Understanding &amp; Existing Limitations vs. Solutions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393192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EA580C"/>
                </a:solidFill>
              </a:defRPr>
            </a:pPr>
            <a:r>
              <a:t>Existing Placement Limitations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1. Black-Box Resumes: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Students submit resumes blindly without knowing ATS readability, structure flaws, or role match.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2. Directionless Preparation: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Students know target roles but lack a step-by-step, time-bound roadmap with free tools.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3. Opaque Hiring Standards: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Zero visibility into previous successful candidates' projects, tech stacks, or interview blueprints.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4. Rejection Without Feedback: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Students get rejected without actionable diagnostic feedback on what content was missing.</a:t>
            </a:r>
          </a:p>
          <a:p>
            <a:pPr>
              <a:defRPr sz="1050" b="1">
                <a:solidFill>
                  <a:srgbClr val="0F172A"/>
                </a:solidFill>
              </a:defRPr>
            </a:pPr>
            <a:r>
              <a:t>5. Layoff Panic (2026-30):</a:t>
            </a:r>
          </a:p>
          <a:p>
            <a:pPr>
              <a:defRPr sz="950">
                <a:solidFill>
                  <a:srgbClr val="64748B"/>
                </a:solidFill>
              </a:defRPr>
            </a:pPr>
            <a:r>
              <a:t>Macroeconomic doom-scrolling creates depression while real daily job creation is overlooked.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46320" y="1325880"/>
          <a:ext cx="658368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3657600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Identified Student Problem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Our Platform's AI Solution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Students don't know resume effectiveness or ATS score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AI Resume Analyzer: ATS 94/100 score, extracted skills, layout review, best roles, resume gaps &amp; action steps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Students lack structured, time-bound preparation plans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Find Your Path: Dynamic, customized week-by-week roadmaps (4-12 wks) with 100% free open-source resources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Students don't know what selected candidates did differently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Learn From Past Selections: Branch-locked past successful resumes, candidate projects &amp; interview video rounds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Students face post-rejection confusion with no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Find the Gap: Real-time skill gap analysis vs corporate job criteria with 1-click addition to learning goals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Macroeconomic layoff anxiety (2026-30) &amp; scattered news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F172A"/>
                          </a:solidFill>
                        </a:defRPr>
                      </a:pPr>
                      <a:r>
                        <a:t>Don't Fall in the Trap: Daily verified corporate hiring news, MNC expansion announcements with direct source links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DEEP RECRUITER AUDIT &amp; 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Core Feature 1: AI Resume Intelligence &amp; Recruiter Audit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280160"/>
            <a:ext cx="6400800" cy="50292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In-Dashboard Recruiter Analysis Engine (6 Key Dimensions)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1. Extracted Skills Matrix: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Categorizes extracted tokens into Technical Skills, Engineering Frameworks (Git, Postman, Linux), and Soft/Analytical proficiencies.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2. ATS Readability &amp; Parsing Score: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Evaluates layout hierarchy, single-column parsing, and provides a quantitative ATS Score (e.g., 94/100) with 1-page strict compliance.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3. Best Target Corporate Roles: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Matches candidate's skill profile against official PMIS roles with % match score (e.g. 94% Full Stack) and corporate selection rationale.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4. Key Strengths Identification: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Pinpoints verified competitive advantages that corporate hiring managers prioritize (clean foundations, verified project complexity).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5. Resume Gaps (Content &amp; Metrics, Not Just Skills):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Flags missing live GitHub URLs, absent quantitative metrics (%, ms, revenue), and passive phrasing without action verbs.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6. Actionable Next Steps Roadmap: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Provides a 3-phase execution checklist (Phase 1: Header URLs -&gt; Phase 2: Quantified Metrics -&gt; Phase 3: Targeted PMIS Submissions).</a:t>
            </a:r>
          </a:p>
        </p:txBody>
      </p:sp>
      <p:pic>
        <p:nvPicPr>
          <p:cNvPr id="6" name="Picture 5" descr="resume_analyzer_mock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0" y="1280160"/>
            <a:ext cx="4023360" cy="36655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STRATEGIC PREPARATION &amp; OPPORTUNITY AWARENESS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Core Feature 2: Personalized Career Roadmaps &amp; Job Creation News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4F46E5"/>
                </a:solidFill>
              </a:defRPr>
            </a:pPr>
            <a:r>
              <a:t>1. 'Find Your Path' — Personalized AI Roadmaps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Target Role Customization: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Student selects their dream role from official PMIS tracks or searches custom domains (VLSI, Full Stack, Data Science, Automotive).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Time-Bound Milestones: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Customizable preparation windows (4 Weeks Fast-Track, 8 Weeks Balanced, 12 Weeks Mastery) tailored to candidate's available study bandwidth.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Structured Weekly Syllabus: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Breaks learning into Week 1 (Core Foundations), Week 2 (Hands-on Projects), Week 3 (Frameworks), and Week 4 (Mock Interviews &amp; PMIS Submission).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100% Free &amp; Open-Source Resources: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Direct links to curated GitHub repositories, official documentation, MIT/Stanford OpenCourseWare, and free interactive practice labs.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Interactive Progress Tracking: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Checkable weekly milestones stored in student profile to ensure continuous accountability.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212080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2. 'Don't Fall in the Trap' — Daily Corporate Hiring Stream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Combating 2026-30 Layoff Depression: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Viral media highlights layoffs and freezes, triggering student panic. This module proves that massive hiring continues daily across core sectors.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Daily Multi-Source Ingestion: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Aggregates verified corporate job creation announcements from Google News, corporate press releases, Economic Times, and MNC expansion portals.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Focus on Real Opportunity Creation: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Surfaces new GCC investments, green hydrogen plants, semiconductor fabrication units, automotive tech hubs, and corporate expansion drives.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Transparent Source Links &amp; Dates: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Every opportunity card provides transparent timestamps, company tags, and 1-click external source verification links.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• Accessible from Home (Login-Protected):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Keeps student dashboard focused on active tasks, while allowing explore-mode for all registered candidates.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INTELLIGENT BENCHMARKING &amp; CONVERSATIONAL ASSISTANCE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Core Feature 3: Hiring Transparency, Gap Diagnostics &amp; Disha AI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3401568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Learn From Past Selections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Branch-Locked Insights: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Locked to candidate's discipline (CS/IT, Mech, Civil, Electrical, Mgmt) so insights are strictly relevant.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Raw Resume Blueprint: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Examines past selected candidates' real project structures, technical skills, and layout formats.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Company Interview Videos: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Curated video breakdowns of technical coding, design rounds, and HR interviews provided for each branch.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325880"/>
            <a:ext cx="3401568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EA580C"/>
                </a:solidFill>
              </a:defRPr>
            </a:pPr>
            <a:r>
              <a:t>Find the Gap (Diagnostics)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Target Role Matchup: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Compares candidate's extracted skills against official corporate selection criteria.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Match Status Verdict: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Provides instant classification: 'Strong Match', 'Moderate Gap', or 'Action Needed'.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1-Click Learning Addition: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Identifies exact missing competencies and adds them directly to the student's learning roadmap.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325880"/>
            <a:ext cx="3401568" cy="49377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0284C7"/>
                </a:solidFill>
              </a:defRPr>
            </a:pPr>
            <a:r>
              <a:t>Disha AI Assistant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24/7 Portal Guidance: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Conversational assistant grounded via Hybrid RAG to help students navigate when stuck.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Internship Inquiries: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Instantly queries corporate listings across 24 sectors, stipend rules (₹5k/mo + ₹6k grant), and eligibility.</a:t>
            </a:r>
          </a:p>
          <a:p>
            <a:pPr>
              <a:defRPr sz="1000" b="1">
                <a:solidFill>
                  <a:srgbClr val="0F172A"/>
                </a:solidFill>
              </a:defRPr>
            </a:pPr>
            <a:r>
              <a:t>General Career Advice:</a:t>
            </a:r>
          </a:p>
          <a:p>
            <a:pPr>
              <a:defRPr sz="900">
                <a:solidFill>
                  <a:srgbClr val="64748B"/>
                </a:solidFill>
              </a:defRPr>
            </a:pPr>
            <a:r>
              <a:t>Provides grounded answers to career questions without hallucinations.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MODULAR 4-TIER AI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1F5F9"/>
                </a:solidFill>
              </a:defRPr>
            </a:pPr>
            <a:r>
              <a:t>Engineering Implementation &amp; Technical Architecture</a:t>
            </a:r>
          </a:p>
        </p:txBody>
      </p:sp>
      <p:pic>
        <p:nvPicPr>
          <p:cNvPr id="5" name="Picture 4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669280" cy="234635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675120" y="1371600"/>
            <a:ext cx="4754880" cy="48920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10B981"/>
                </a:solidFill>
              </a:defRPr>
            </a:pPr>
            <a:r>
              <a:t>Technical Specifications &amp; AI Pipeline</a:t>
            </a:r>
          </a:p>
          <a:p>
            <a:pPr>
              <a:defRPr sz="1000" b="1">
                <a:solidFill>
                  <a:srgbClr val="F1F5F9"/>
                </a:solidFill>
              </a:defRPr>
            </a:pPr>
            <a:r>
              <a:t>• Frontend Presentation Layer:</a:t>
            </a:r>
          </a:p>
          <a:p>
            <a:pPr>
              <a:defRPr sz="880">
                <a:solidFill>
                  <a:srgbClr val="94A3B8"/>
                </a:solidFill>
              </a:defRPr>
            </a:pPr>
            <a:r>
              <a:t>React 19, Tailwind CSS, TanStack Router with client-side state caching, high-contrast accessible typography, and dark/light system adaptation.</a:t>
            </a:r>
          </a:p>
          <a:p>
            <a:pPr>
              <a:defRPr sz="1000" b="1">
                <a:solidFill>
                  <a:srgbClr val="F1F5F9"/>
                </a:solidFill>
              </a:defRPr>
            </a:pPr>
            <a:r>
              <a:t>• Asynchronous API Gateway:</a:t>
            </a:r>
          </a:p>
          <a:p>
            <a:pPr>
              <a:defRPr sz="880">
                <a:solidFill>
                  <a:srgbClr val="94A3B8"/>
                </a:solidFill>
              </a:defRPr>
            </a:pPr>
            <a:r>
              <a:t>FastAPI microservices delivering &lt;15ms response times, JWT session security, multipart PDF/DOCX resume text extraction, and Cloudinary storage.</a:t>
            </a:r>
          </a:p>
          <a:p>
            <a:pPr>
              <a:defRPr sz="1000" b="1">
                <a:solidFill>
                  <a:srgbClr val="F1F5F9"/>
                </a:solidFill>
              </a:defRPr>
            </a:pPr>
            <a:r>
              <a:t>• Hybrid RAG Retrieval Engine:</a:t>
            </a:r>
          </a:p>
          <a:p>
            <a:pPr>
              <a:defRPr sz="880">
                <a:solidFill>
                  <a:srgbClr val="94A3B8"/>
                </a:solidFill>
              </a:defRPr>
            </a:pPr>
            <a:r>
              <a:t>Combines Qdrant dense vector search (1024-dim semantic embeddings) with Rank-BM25 lexical search using Reciprocal Rank Fusion (RRF).</a:t>
            </a:r>
          </a:p>
          <a:p>
            <a:pPr>
              <a:defRPr sz="1000" b="1">
                <a:solidFill>
                  <a:srgbClr val="F1F5F9"/>
                </a:solidFill>
              </a:defRPr>
            </a:pPr>
            <a:r>
              <a:t>• LLM Inference &amp; Guardrails:</a:t>
            </a:r>
          </a:p>
          <a:p>
            <a:pPr>
              <a:defRPr sz="880">
                <a:solidFill>
                  <a:srgbClr val="94A3B8"/>
                </a:solidFill>
              </a:defRPr>
            </a:pPr>
            <a:r>
              <a:t>NVIDIA NIM / Llama 3 LLM client with structured JSON output enforcing strict schema extraction, ATS parsing audit, and prompt grounding.</a:t>
            </a:r>
          </a:p>
          <a:p>
            <a:pPr>
              <a:defRPr sz="1000" b="1">
                <a:solidFill>
                  <a:srgbClr val="F1F5F9"/>
                </a:solidFill>
              </a:defRPr>
            </a:pPr>
            <a:r>
              <a:t>• Persistence &amp; Data Schemas:</a:t>
            </a:r>
          </a:p>
          <a:p>
            <a:pPr>
              <a:defRPr sz="880">
                <a:solidFill>
                  <a:srgbClr val="94A3B8"/>
                </a:solidFill>
              </a:defRPr>
            </a:pPr>
            <a:r>
              <a:t>Relational schema mapping users, applications, branch-specific curated past selections, and daily job creation news feeds.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EA580C"/>
                </a:solidFill>
              </a:defRPr>
            </a:pPr>
            <a:r>
              <a:t>PRODUCTION IMPACT &amp; STRATEGIC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172A"/>
                </a:solidFill>
              </a:defRPr>
            </a:pPr>
            <a:r>
              <a:t>Scalability, Feasibility, Real-World Impact &amp; Long-Term Vision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258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0284C7"/>
                </a:solidFill>
              </a:defRPr>
            </a:pPr>
            <a:r>
              <a:t>1. Scalability &amp; Deployment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Institutional Rollout: Easily deployable at college placement-cell level and scalable to 100+ universities.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Multi-Domain Breadth: Engineered to scale beyond PMIS into national apprenticeships, PSU hiring, and private tech drives.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Stateless Cloud Backend: Containerized FastAPI microservices scale horizontally with low compute overhead.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2588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</a:defRPr>
            </a:pPr>
            <a:r>
              <a:t>2. Feasibility &amp; Accessibility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Zero Cost for Students: Eliminates commercial course paywalls by prioritizing verified open-source and free resources.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Low Hardware Barrier: 100% web-based; operates smoothly on entry-level smartphones and basic laptops.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Lightweight AI Integration: Hybrid retrieval minimizes token cost while maximizing grounded output accuracy.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8620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A580C"/>
                </a:solidFill>
              </a:defRPr>
            </a:pPr>
            <a:r>
              <a:t>3. Tri-Party Real-World Impact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For Students: Transforms rejection anxiety into structured daily progress, 95% ATS score, and interview confidence.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For Placement Cells: Automates resume audits, identifies branch-level skill gaps, and accelerates recruitment drives.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For Recruiters: Access to pre-screened, role-aligned candidates ready for Day-1 productivity.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3886200"/>
            <a:ext cx="5212080" cy="2377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4F46E5"/>
                </a:solidFill>
              </a:defRPr>
            </a:pPr>
            <a:r>
              <a:t>4. Long-Term Strategic Vision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Continuous Career Ecosystem: From 1st-year college exploration to Day-1 corporate onboarding.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National Placement Standard: Creating an open benchmark for verifiable skill preparedness across Indian academia.</a:t>
            </a:r>
          </a:p>
          <a:p>
            <a:pPr>
              <a:defRPr sz="880">
                <a:solidFill>
                  <a:srgbClr val="0F172A"/>
                </a:solidFill>
              </a:defRPr>
            </a:pPr>
            <a:r>
              <a:t>Recruiter Loop Feedback: Closing the loop with automated corporate feedback informing student learning plans.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