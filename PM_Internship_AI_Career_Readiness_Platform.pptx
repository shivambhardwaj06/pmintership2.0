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1 - [0:00 to 1:15]):</a:t>
            </a:r>
          </a:p>
          <a:p>
            <a:r>
              <a:t>• Hook: 'Good morning, members of the evaluation committee. Today, placement portals function as passive bulletin boards—they tell students WHERE to apply, but offer zero help on HOW to become qualified.'</a:t>
            </a:r>
          </a:p>
          <a:p>
            <a:r>
              <a:t>• Core Dilemma: Over 78% of student resumes are dropped by corporate ATS algorithms in the first 15 seconds without the student ever knowing why.</a:t>
            </a:r>
          </a:p>
          <a:p>
            <a:r>
              <a:t>• Value Proposition: PM Internship Scheme 2.0 flips this broken model. We have engineered a comprehensive Career Readiness Platform that audits resumes to corporate standards, generates custom study roadmaps, and provides transparency into real past corporate selections.</a:t>
            </a:r>
          </a:p>
          <a:p>
            <a:r>
              <a:t>• Concept Flow: Walk through the 6-stage lifecycle below: Profile -&gt; AI Resume Intelligence -&gt; Skill Gap Analysis -&gt; Time-Bound Roadmap -&gt; Past Selection Insights -&gt; Live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2 - [1:15 to 2:30]):</a:t>
            </a:r>
          </a:p>
          <a:p>
            <a:r>
              <a:t>• Strategic Problem Framing: 'To solve an engineering problem, we first mapped the exact failure points of modern placement ecosystems.'</a:t>
            </a:r>
          </a:p>
          <a:p>
            <a:r>
              <a:t>• Highlight the 5 Critical Vulnerabilities: Break down the table row by row.</a:t>
            </a:r>
          </a:p>
          <a:p>
            <a:r>
              <a:t>• Layoff Anxiety Context: Explain why 'Don't Fall in the Trap' is vital: 2026-30 engineering and management batches are gripped by negative media narratives. Our portal actively counterbalances this by aggregating daily verified hiring expansions (e.g. Tata Semiconductor, L&amp;T Green Tech).</a:t>
            </a:r>
          </a:p>
          <a:p>
            <a:r>
              <a:t>• Point of Emphasis: Every problem is directly mapped to a production-tested software feature in our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3 - [2:30 to 3:45]):</a:t>
            </a:r>
          </a:p>
          <a:p>
            <a:r>
              <a:t>• Deep-Dive into Feature 1: 'Here is the central engine of our Student Dashboard: the AI Resume Analyzer.'</a:t>
            </a:r>
          </a:p>
          <a:p>
            <a:r>
              <a:t>• Walk through the 6 Dimensions: Focus on Dimension 5: 'Identify Gap in the Resume (NOT just skill gap)'. Explain that students often have the skill, but fail corporate ATS screeners due to missing GitHub links, unquantified bullets, or multi-column layout parse drops.</a:t>
            </a:r>
          </a:p>
          <a:p>
            <a:r>
              <a:t>• Visual Proof: Direct attention to the right-hand graphic showing the actual audit card: ATS 94/100 score, verified 1-page badge, extracted skill matrix, and targeted corporate roles with %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4 - [3:45 to 5:00]):</a:t>
            </a:r>
          </a:p>
          <a:p>
            <a:r>
              <a:t>• Dual Proactive Features: 'Slide 4 showcases how we remove ambiguity and anxiety.'</a:t>
            </a:r>
          </a:p>
          <a:p>
            <a:r>
              <a:t>• Find Your Path: 'Students know what they want to become, but have no structured roadmap. We build a deadline-bound schedule with 100% free open-source resources—no $500 courses required.'</a:t>
            </a:r>
          </a:p>
          <a:p>
            <a:r>
              <a:t>• Don't Fall in the Trap: 'Viral social media breeds student depression regarding 2026-30 hiring freezes. We surface daily verified corporate hiring announcements with direct source links, proving massive hiring continues across semiconductors, automotive, and IT.'</a:t>
            </a:r>
          </a:p>
          <a:p>
            <a:r>
              <a:t>• Direct attention to the right-side graphic showing the live milestone timeline and daily hiring 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5 - [5:00 to 6:15]):</a:t>
            </a:r>
          </a:p>
          <a:p>
            <a:r>
              <a:t>• Rejection Diagnostics: 'Rejection without feedback is the greatest psychological drain on students. We turn rejection into actionable science.'</a:t>
            </a:r>
          </a:p>
          <a:p>
            <a:r>
              <a:t>• Learn From Past Selections: 'We lock insights to the candidate's exact branch. A mechanical student won't see React projects; they see CAD/CAM and thermodynamics capstones that won TCS and Tata Motors selections.'</a:t>
            </a:r>
          </a:p>
          <a:p>
            <a:r>
              <a:t>• Find the Gap &amp; Disha AI: 'Our gap analyzer calculates mathematical match rates, and Disha AI operates 24/7 using Hybrid RAG to eliminate hallucinations regarding eligibility and stipends.'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6 - [6:15 to 7:30]):</a:t>
            </a:r>
          </a:p>
          <a:p>
            <a:r>
              <a:t>• Robust Architecture: 'Our architecture is production-ready, modular, and cloud-native.'</a:t>
            </a:r>
          </a:p>
          <a:p>
            <a:r>
              <a:t>• Walk through the 4 Tiers: Tier 1 Client (React 19), Tier 2 API Gateway (FastAPI with &lt;15ms response latency), Tier 3 AI Engine (NVIDIA NIM + Qdrant), Tier 4 Data Layer (Relational + Cloudinary).</a:t>
            </a:r>
          </a:p>
          <a:p>
            <a:r>
              <a:t>• Explain Hybrid RAG: 'Why Hybrid RAG? Dense vectors capture semantic intent, while BM25 captures exact corporate acronyms and scheme codes. Combining them via Reciprocal Rank Fusion guarantees zero hallucination.'</a:t>
            </a:r>
          </a:p>
          <a:p>
            <a:r>
              <a:t>• Asynchronous Pipeline: PDF upload, text parsing, embedding generation, and LLM inference execute seamlessly in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(SLIDE 7 - [7:30 to 8:30]):</a:t>
            </a:r>
          </a:p>
          <a:p>
            <a:r>
              <a:t>• Strategic Conclusion: 'In conclusion, PM Internship Scheme 2.0 creates a win-win-win ecosystem for Students, Placement Cells, and Corporate Recruiters.'</a:t>
            </a:r>
          </a:p>
          <a:p>
            <a:r>
              <a:t>• Real-World Feasibility: 'We eliminate the financial barrier by using 100% free open-source resources, while our lightweight cloud stack ensures accessibility even on low-end mobile devices.'</a:t>
            </a:r>
          </a:p>
          <a:p>
            <a:r>
              <a:t>• Long-Term Vision: 'We envision this platform expanding from a scheme utility into a National Career Readiness Benchmark, supporting students from Day 1 in college to Day 1 on the corporate job.'</a:t>
            </a:r>
          </a:p>
          <a:p>
            <a:r>
              <a:t>• Thank the committee and invite questions: 'Thank you for your time. We are now open for live prototype demonstration and Q&amp;A.'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109728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97316"/>
                </a:solidFill>
              </a:defRPr>
            </a:pPr>
            <a:r>
              <a:t>PM INTERNSHIP SCHEME 2.0</a:t>
            </a:r>
          </a:p>
          <a:p>
            <a:pPr>
              <a:defRPr sz="2900" b="1">
                <a:solidFill>
                  <a:srgbClr val="F8FAFC"/>
                </a:solidFill>
              </a:defRPr>
            </a:pPr>
            <a:r>
              <a:t>AI-Powered Career Readiness &amp; Intelligence Platform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Moving Beyond Passive Applications: Bridging the Student Preparation Gap with Recruiter-Grade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3328416" cy="16916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97316"/>
                </a:solidFill>
              </a:defRPr>
            </a:pPr>
            <a:r>
              <a:t>The Preparation Dilemma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Traditional placement platforms only show WHERE to apply. Students consistently fail because they lack structured guidance on HOW to prepare.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2606040"/>
            <a:ext cx="3328416" cy="16916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The Architectural Solution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An integrated ecosystem connecting AI resume intelligence, personalized time-bound roadmaps, past selection insights, and live corporate news.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2606040"/>
            <a:ext cx="3328416" cy="16916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0EA5E9"/>
                </a:solidFill>
              </a:defRPr>
            </a:pPr>
            <a:r>
              <a:t>Quantified Candidate Impact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Transforms candidates into 94% ATS-compliant, pre-upskilled applicants with zero commercial paywalls using 100% free open-source resources.</a:t>
            </a:r>
          </a:p>
        </p:txBody>
      </p:sp>
      <p:pic>
        <p:nvPicPr>
          <p:cNvPr id="8" name="Picture 7" descr="hero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480560"/>
            <a:ext cx="10725912" cy="2161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STRATEGIC PROBLEM-SOLUTION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Problem Understanding &amp; Existing Limitations vs. Solution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931920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97316"/>
                </a:solidFill>
              </a:defRPr>
            </a:pPr>
            <a:r>
              <a:t>Existing Placement Bottlenecks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1. Black-Box ATS Rejections: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Students submit resumes blindly without knowing ATS readability, formatting drops, or role suitability.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2. Directionless Preparation: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Students know target roles but lack a time-bound, week-by-week curriculum with verified free resources.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3. Opaque Hiring Standards: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Zero visibility into successful candidates' real projects, resume layout, or company interview rounds.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4. Rejection Without Diagnostics: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Students receive generic rejection emails without knowing what content or skills were lacking.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t>5. Layoff Doom-Scrolling (2026-30):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Viral media headlines about hiring freezes induce panic, obscuring daily corporate expansions happening across India.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46320" y="1325880"/>
          <a:ext cx="6583679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749039"/>
              </a:tblGrid>
              <a:tr h="8305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Identified Student Problem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Our Platform's Production Solution</a:t>
                      </a:r>
                    </a:p>
                  </a:txBody>
                  <a:tcPr>
                    <a:solidFill>
                      <a:srgbClr val="0B132B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Students don't know resume effectiveness or ATS score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AI Resume Analyzer: ATS 94/100 score, extracted skills matrix, layout audit, best matching roles, resume gaps &amp; action steps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Students lack structured, time-bound preparation plans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Find Your Path: Dynamic week-by-week roadmaps (4-12 wks) with 100% free open-source resources &amp; milestone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Students don't know what selected candidates did differently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Learn From Past Selections: Branch-locked past successful resumes, candidate projects &amp; company interview video rounds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Students face post-rejection confusion with no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Find the Gap: Real-time skill gap analysis vs corporate job criteria with 1-click addition to learning goals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05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Macroeconomic layoff anxiety (2026-30) &amp; scattered news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F172A"/>
                          </a:solidFill>
                        </a:defRPr>
                      </a:pPr>
                      <a:r>
                        <a:t>Don't Fall in the Trap: Daily verified corporate hiring news, MNC expansion announcements with direct source links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RECRUITER-GRADE ATS PARSING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Core Feature 1: AI Resume Intelligence &amp; Recruiter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2179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97316"/>
                </a:solidFill>
              </a:defRPr>
            </a:pPr>
            <a:r>
              <a:t>In-Dashboard Recruiter Analysis Engine (6 Dimensions)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1. Extracted Skills Matrix: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Categorizes parsed tokens into Technical Skills, Engineering Frameworks (Git, Postman, Linux), and Soft/Analytical competencies. Auto-syncs to user profile.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2. ATS Readability &amp; Parsing Score: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Evaluates layout hierarchy, single-column parsing, and provides a quantitative ATS Score (e.g., 94/100) with 1-page strict compliance check.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3. Best Target Corporate Roles: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Matches candidate's skill profile against official PMIS roles with % match score (e.g. 94% Full Stack) and corporate selection rationale.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4. Key Strengths Identification: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Pinpoints verified competitive advantages that corporate hiring managers prioritize (clean foundations, verified project complexity).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5. Resume Gaps (Content &amp; Metrics, Not Just Skills):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Flags missing live GitHub URLs, absent quantitative metrics (%, ms, revenue), and passive phrasing without action verbs.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6. Actionable Next Steps Roadmap: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Provides a 3-phase execution checklist (Phase 1: Header URLs -&gt; Phase 2: Quantified Metrics -&gt; Phase 3: Targeted PMIS Submissions).</a:t>
            </a:r>
          </a:p>
        </p:txBody>
      </p:sp>
      <p:pic>
        <p:nvPicPr>
          <p:cNvPr id="6" name="Picture 5" descr="resume_analyzer_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280160"/>
            <a:ext cx="4297680" cy="41000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STRATEGIC PREPARATION &amp; OPPORTUNITY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Core Feature 2: Personalized Career Roadmaps &amp; Corporate Hiring News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6366F1"/>
                </a:solidFill>
              </a:defRPr>
            </a:pPr>
            <a:r>
              <a:t>Strategic Career Direction &amp; Opportunity Stream</a:t>
            </a:r>
          </a:p>
          <a:p>
            <a:pPr>
              <a:defRPr sz="1050" b="1">
                <a:solidFill>
                  <a:srgbClr val="6366F1"/>
                </a:solidFill>
              </a:defRPr>
            </a:pPr>
            <a:r>
              <a:t>1. 'Find Your Path' — Personalized AI Roadmaps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Target Role Customization: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Select dream role from official PMIS tracks or search custom fields (VLSI, Full Stack, Data Science, Automotive).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Time-Bound Milestones: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Customizable duration (4 Weeks Fast-Track, 8 Weeks Balanced, 12 Weeks Mastery) matching candidate bandwidth.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100% Free &amp; Open-Source Resources: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Zero paywalls; direct links to curated GitHub repositories, official documentation, MIT/Stanford OpenCourseWare, and free interactive labs.</a:t>
            </a:r>
          </a:p>
          <a:p>
            <a:pPr>
              <a:defRPr sz="1050" b="1">
                <a:solidFill>
                  <a:srgbClr val="F97316"/>
                </a:solidFill>
              </a:defRPr>
            </a:pPr>
            <a:r>
              <a:t>2. 'Don't Fall in the Trap' — Corporate Hiring Stream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Countering 2026-30 Layoff Panic: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Replaces anxiety with facts by highlighting positive job creation announcements occurring every single day across India.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Multi-Source Daily Ingestion: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Aggregates announcements from Google News, corporate press releases, Economic Times, and MNC expansion portals with 1-click source verification.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Direct Corporate Application Link: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Connects real corporate announcements directly to matching PMIS internship application portals.</a:t>
            </a:r>
          </a:p>
        </p:txBody>
      </p:sp>
      <p:pic>
        <p:nvPicPr>
          <p:cNvPr id="6" name="Picture 5" descr="roadmap_news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60720" cy="23867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INTELLIGENT BENCHMARKING &amp; CONVERSATIONAL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Core Feature 3: Hiring Transparency, Skill Gap Diagnostics &amp; Disha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7548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Transparency, Diagnostics &amp; Conversational AI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1. Learn From Past Selections (Branch-Locked)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Discipline-Specific Blueprints: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Strictly locked to candidate's branch (CS/IT, Mech, Civil, Electrical, Mgmt) so advice is 100% relevant.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Real Winning Projects: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Examines anonymized profiles of students previously selected by top corporations, their project architectures, and tools.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Company Interview Videos: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Curated video breakdowns of technical coding tests, machine rounds, and HR interview round preparation.</a:t>
            </a:r>
          </a:p>
          <a:p>
            <a:pPr>
              <a:defRPr sz="1050" b="1">
                <a:solidFill>
                  <a:srgbClr val="F97316"/>
                </a:solidFill>
              </a:defRPr>
            </a:pPr>
            <a:r>
              <a:t>2. Find the Gap (Real-Time Diagnostics)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Match Verdict: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Compares resume skills vs. corporate opening criteria, delivering instant verdict (Strong Match vs. Action Needed).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1-Click Learning Addition: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Flags missing competencies and adds them directly into the student's active roadmap.</a:t>
            </a:r>
          </a:p>
          <a:p>
            <a:pPr>
              <a:defRPr sz="1050" b="1">
                <a:solidFill>
                  <a:srgbClr val="0EA5E9"/>
                </a:solidFill>
              </a:defRPr>
            </a:pPr>
            <a:r>
              <a:t>3. Disha AI Guide (24/7 Grounded Chatbot)</a:t>
            </a:r>
          </a:p>
          <a:p>
            <a:pPr>
              <a:defRPr sz="900" b="1">
                <a:solidFill>
                  <a:srgbClr val="0F172A"/>
                </a:solidFill>
              </a:defRPr>
            </a:pPr>
            <a:r>
              <a:t>• Hybrid RAG Architecture:</a:t>
            </a:r>
          </a:p>
          <a:p>
            <a:pPr>
              <a:defRPr sz="819">
                <a:solidFill>
                  <a:srgbClr val="64748B"/>
                </a:solidFill>
              </a:defRPr>
            </a:pPr>
            <a:r>
              <a:t>Grounded in official scheme data to answer questions on stipend rules (₹5k/mo + ₹6k grant), eligibility, and sector openings without hallucinations.</a:t>
            </a:r>
          </a:p>
        </p:txBody>
      </p:sp>
      <p:pic>
        <p:nvPicPr>
          <p:cNvPr id="6" name="Picture 5" descr="past_selection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80160"/>
            <a:ext cx="5760720" cy="2386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PRODUCTION-GRADE 4-TIER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Engineering Implementation &amp; Technical Architecture</a:t>
            </a:r>
          </a:p>
        </p:txBody>
      </p:sp>
      <p:pic>
        <p:nvPicPr>
          <p:cNvPr id="5" name="Picture 4" descr="tech_architecture_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035040" cy="249525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25880"/>
            <a:ext cx="4480560" cy="49834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Technical Architecture &amp; AI Pipeline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Frontend Presentation Layer:</a:t>
            </a:r>
          </a:p>
          <a:p>
            <a:pPr>
              <a:defRPr sz="840">
                <a:solidFill>
                  <a:srgbClr val="94A3B8"/>
                </a:solidFill>
              </a:defRPr>
            </a:pPr>
            <a:r>
              <a:t>Built with React 19, Vite 8, and Tailwind CSS. Client-side state caching, high-contrast accessible typography, and automatic dark/light theme switching.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Asynchronous API Gateway:</a:t>
            </a:r>
          </a:p>
          <a:p>
            <a:pPr>
              <a:defRPr sz="840">
                <a:solidFill>
                  <a:srgbClr val="94A3B8"/>
                </a:solidFill>
              </a:defRPr>
            </a:pPr>
            <a:r>
              <a:t>FastAPI microservices delivering &lt;15ms response latency, JWT session authentication, multipart PDF/DOCX extractors, and secure Cloudinary storage.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Hybrid RAG Retrieval Engine:</a:t>
            </a:r>
          </a:p>
          <a:p>
            <a:pPr>
              <a:defRPr sz="840">
                <a:solidFill>
                  <a:srgbClr val="94A3B8"/>
                </a:solidFill>
              </a:defRPr>
            </a:pPr>
            <a:r>
              <a:t>Combines Qdrant dense vector search (1024-dim semantic embeddings) with Rank-BM25 lexical ranking via Reciprocal Rank Fusion (RRF) for 100% precision.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LLM Inference &amp; Guardrails:</a:t>
            </a:r>
          </a:p>
          <a:p>
            <a:pPr>
              <a:defRPr sz="840">
                <a:solidFill>
                  <a:srgbClr val="94A3B8"/>
                </a:solidFill>
              </a:defRPr>
            </a:pPr>
            <a:r>
              <a:t>NVIDIA NIM / Llama 3 LLM client with structured JSON output enforcing strict schema extraction, ATS parsing audit, and prompt grounding.</a:t>
            </a:r>
          </a:p>
          <a:p>
            <a:pPr>
              <a:defRPr sz="950" b="1">
                <a:solidFill>
                  <a:srgbClr val="F8FAFC"/>
                </a:solidFill>
              </a:defRPr>
            </a:pPr>
            <a:r>
              <a:t>• Persistence &amp; Data Schemas:</a:t>
            </a:r>
          </a:p>
          <a:p>
            <a:pPr>
              <a:defRPr sz="840">
                <a:solidFill>
                  <a:srgbClr val="94A3B8"/>
                </a:solidFill>
              </a:defRPr>
            </a:pPr>
            <a:r>
              <a:t>Relational schema mapping users, applications, branch-specific curated past selections, and daily job creation news feeds.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840480" cy="25603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50" b="1">
                <a:solidFill>
                  <a:srgbClr val="F97316"/>
                </a:solidFill>
              </a:defRPr>
            </a:pPr>
            <a:r>
              <a:t>PRODUCTION IMPACT &amp; 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Scalability, Feasibility, Real-World Impact &amp; Long-Term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1. Scalability &amp; Deployment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Institutional Rollout: Easily deployable at college placement-cell level and scalable to 100+ universities.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Multi-Domain Breadth: Engineered to scale beyond PMIS into national apprenticeships, PSU hiring, and private tech drives.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Stateless Cloud Backend: Containerized FastAPI microservices scale horizontally with low compute overhead.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2. Feasibility &amp; Accessibility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Zero Cost for Students: Eliminates commercial course paywalls by prioritizing verified open-source and free resources.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Low Hardware Barrier: 100% web-based; operates smoothly on entry-level smartphones and basic laptops.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Lightweight AI Integration: Hybrid retrieval minimizes token cost while maximizing grounded output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97316"/>
                </a:solidFill>
              </a:defRPr>
            </a:pPr>
            <a:r>
              <a:t>3. Tri-Party Real-World Impact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For Students: Transforms rejection anxiety into structured daily progress, 95% ATS score, and interview confidence.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For Placement Cells: Automates resume audits, identifies branch-level skill gaps, and accelerates recruitment drives.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For Recruiters: Access to pre-screened, role-aligned candidates ready for Day-1 productivity.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4. Long-Term Strategic Vision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Continuous Career Ecosystem: From 1st-year college exploration to Day-1 corporate onboarding.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National Placement Standard: Creating an open benchmark for verifiable skill preparedness across Indian academia.</a:t>
            </a:r>
          </a:p>
          <a:p>
            <a:pPr>
              <a:defRPr sz="880">
                <a:solidFill>
                  <a:srgbClr val="0F172A"/>
                </a:solidFill>
              </a:defRPr>
            </a:pPr>
            <a:r>
              <a:t>Recruiter Loop Feedback: Closing the loop with automated corporate feedback informing student learning plans.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